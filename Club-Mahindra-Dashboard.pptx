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0960" y="-6096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0" y="73025"/>
            <a:ext cx="3566160" cy="1240253"/>
          </a:xfrm>
          <a:prstGeom prst="roundRect">
            <a:avLst>
              <a:gd name="adj" fmla="val 15000"/>
            </a:avLst>
          </a:prstGeom>
          <a:solidFill>
            <a:srgbClr val="F7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47240"/>
            <a:ext cx="6050915" cy="119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2A93B"/>
                </a:solidFill>
                <a:latin typeface="Consolas"/>
              </a:rPr>
              <a:t>CLUB MAHINDRA RESORTS</a:t>
            </a:r>
            <a:endParaRPr sz="36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EDE7D6"/>
                </a:solidFill>
                <a:latin typeface="Georgia"/>
              </a:rPr>
              <a:t>Guest Wayfinding Dashboard</a:t>
            </a:r>
            <a:endParaRPr sz="46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200525"/>
            <a:ext cx="9270365" cy="410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DB3A4"/>
                </a:solidFill>
                <a:latin typeface="Calibri"/>
              </a:rPr>
              <a:t>An interactive resort navigation web app for a better guest experience.</a:t>
            </a:r>
            <a:endParaRPr sz="1600" b="0" i="0">
              <a:solidFill>
                <a:srgbClr val="9DB3A4"/>
              </a:solidFill>
              <a:latin typeface="Calibri"/>
            </a:endParaRPr>
          </a:p>
        </p:txBody>
      </p:sp>
      <p:pic>
        <p:nvPicPr>
          <p:cNvPr id="11" name="Picture 10" descr="jsn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3250" y="-275590"/>
            <a:ext cx="4570095" cy="1937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5753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onsolas"/>
              </a:rPr>
              <a:t>THE CHALLENGE</a:t>
            </a:r>
            <a:endParaRPr sz="13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364595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DE7D6"/>
                </a:solidFill>
                <a:latin typeface="Georgia"/>
              </a:rPr>
              <a:t>Guests arrive, and struggle to find their way.</a:t>
            </a:r>
            <a:endParaRPr sz="34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84048"/>
            <a:ext cx="457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9705"/>
            <a:ext cx="5808980" cy="461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 Beyond Google Maps.  </a:t>
            </a:r>
            <a:r>
              <a:rPr sz="1500">
                <a:solidFill>
                  <a:srgbClr val="EDE7D6"/>
                </a:solidFill>
                <a:latin typeface="Calibri"/>
              </a:rPr>
              <a:t>Google Maps helps guests reach the resort but doesn't provide navigation inside the property. Our interactive internal map guides guests to rooms, restaurants, and amenities with real-time navigation.</a:t>
            </a:r>
            <a:endParaRPr sz="15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Real-Time Navigation.  </a:t>
            </a:r>
            <a:r>
              <a:rPr sz="1500">
                <a:solidFill>
                  <a:srgbClr val="EDE7D6"/>
                </a:solidFill>
                <a:latin typeface="Calibri"/>
              </a:rPr>
              <a:t>Printed maps show the resort layout but cannot display a guest's live location or provide navigation. Our digital internal map offers real-time location and easy navigation to any destination.</a:t>
            </a:r>
            <a:endParaRPr sz="15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Every resort is unique.  </a:t>
            </a:r>
            <a:r>
              <a:rPr sz="1500">
                <a:solidFill>
                  <a:srgbClr val="EDE7D6"/>
                </a:solidFill>
                <a:latin typeface="Calibri"/>
              </a:rPr>
              <a:t>Each resort has a different layout. Our customized internal map provides accurate navigation for every property.</a:t>
            </a:r>
            <a:endParaRPr sz="15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Repeated guest queries.  </a:t>
            </a:r>
            <a:r>
              <a:rPr sz="1500">
                <a:solidFill>
                  <a:srgbClr val="EDE7D6"/>
                </a:solidFill>
                <a:latin typeface="Calibri"/>
              </a:rPr>
              <a:t>Guests frequently ask for directions to rooms, restaurants, pools, and other amenities, increasing the workload on the front desk.</a:t>
            </a:r>
            <a:endParaRPr sz="150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53530" y="1828800"/>
            <a:ext cx="4684395" cy="4023360"/>
          </a:xfrm>
          <a:prstGeom prst="roundRect">
            <a:avLst>
              <a:gd name="adj" fmla="val 6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057400"/>
            <a:ext cx="457200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E8577"/>
                </a:solidFill>
                <a:latin typeface="Consolas"/>
              </a:rPr>
              <a:t>Frequently Asked Questions</a:t>
            </a:r>
            <a:endParaRPr sz="1100" b="1" i="0">
              <a:solidFill>
                <a:srgbClr val="6E8577"/>
              </a:solidFill>
              <a:latin typeface="Consola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66560" y="2514600"/>
            <a:ext cx="4480560" cy="658368"/>
          </a:xfrm>
          <a:prstGeom prst="roundRect">
            <a:avLst>
              <a:gd name="adj" fmla="val 18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61569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EDE7D6"/>
                </a:solidFill>
                <a:latin typeface="Calibri"/>
              </a:rPr>
              <a:t>“Where's my room block from here?”</a:t>
            </a:r>
            <a:endParaRPr sz="1400" b="0" i="1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66560" y="3355848"/>
            <a:ext cx="4480560" cy="658368"/>
          </a:xfrm>
          <a:prstGeom prst="roundRect">
            <a:avLst>
              <a:gd name="adj" fmla="val 18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4747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EDE7D6"/>
                </a:solidFill>
                <a:latin typeface="Calibri"/>
              </a:rPr>
              <a:t>“Is there a shortcut to the pool?”</a:t>
            </a:r>
            <a:endParaRPr sz="1400" b="0" i="1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66560" y="4197096"/>
            <a:ext cx="4480560" cy="658368"/>
          </a:xfrm>
          <a:prstGeom prst="roundRect">
            <a:avLst>
              <a:gd name="adj" fmla="val 18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431596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EDE7D6"/>
                </a:solidFill>
                <a:latin typeface="Calibri"/>
              </a:rPr>
              <a:t>“What's around the resort worth visiting?”</a:t>
            </a:r>
            <a:endParaRPr sz="1400" b="0" i="1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66560" y="5038344"/>
            <a:ext cx="4480560" cy="658368"/>
          </a:xfrm>
          <a:prstGeom prst="roundRect">
            <a:avLst>
              <a:gd name="adj" fmla="val 18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5157216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EDE7D6"/>
                </a:solidFill>
                <a:latin typeface="Calibri"/>
              </a:rPr>
              <a:t>“How far is the restaurant, really?”</a:t>
            </a:r>
            <a:endParaRPr sz="1400" b="0" i="1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8577"/>
                </a:solidFill>
                <a:latin typeface="Consolas"/>
              </a:rPr>
              <a:t>2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801370" y="6506083"/>
            <a:ext cx="10908792" cy="0"/>
          </a:xfrm>
          <a:prstGeom prst="line">
            <a:avLst/>
          </a:prstGeom>
          <a:ln w="9525">
            <a:solidFill>
              <a:srgbClr val="2E4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onsolas"/>
              </a:rPr>
              <a:t>THE SOLUTION</a:t>
            </a:r>
            <a:endParaRPr sz="13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DE7D6"/>
                </a:solidFill>
                <a:latin typeface="Georgia"/>
              </a:rPr>
              <a:t>One dashboard, every destination</a:t>
            </a:r>
            <a:endParaRPr sz="34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84048"/>
            <a:ext cx="457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710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9DB3A4"/>
                </a:solidFill>
                <a:latin typeface="Calibri"/>
              </a:rPr>
              <a:t>A guest opens a link , picks their resort, and gets an illustrated, interactive map — with</a:t>
            </a:r>
            <a:endParaRPr sz="1550" b="0" i="0">
              <a:solidFill>
                <a:srgbClr val="9DB3A4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9DB3A4"/>
                </a:solidFill>
                <a:latin typeface="Calibri"/>
              </a:rPr>
              <a:t>turn-by-turn walking directions and nearby places to visit — all running locally, with zero app install.</a:t>
            </a:r>
            <a:endParaRPr sz="155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1576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Georgia"/>
              </a:rPr>
              <a:t>01</a:t>
            </a:r>
            <a:endParaRPr sz="2200" b="1" i="0">
              <a:solidFill>
                <a:srgbClr val="F2A93B"/>
              </a:solidFill>
              <a:latin typeface="Georg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32918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EDE7D6"/>
                </a:solidFill>
                <a:latin typeface="Calibri"/>
              </a:rPr>
              <a:t>Resort Finder</a:t>
            </a:r>
            <a:endParaRPr sz="165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3794760"/>
            <a:ext cx="220370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DB3A4"/>
                </a:solidFill>
                <a:latin typeface="Calibri"/>
              </a:rPr>
              <a:t>Pick your state or country, then your resort, from a fast searchable dashboard.</a:t>
            </a:r>
            <a:endParaRPr sz="125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74720" y="2514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71576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Georgia"/>
              </a:rPr>
              <a:t>02</a:t>
            </a:r>
            <a:endParaRPr sz="2200" b="1" i="0">
              <a:solidFill>
                <a:srgbClr val="F2A93B"/>
              </a:solidFill>
              <a:latin typeface="Georg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75888" y="32918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EDE7D6"/>
                </a:solidFill>
                <a:latin typeface="Calibri"/>
              </a:rPr>
              <a:t>Interactive Map</a:t>
            </a:r>
            <a:endParaRPr sz="165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75888" y="3794760"/>
            <a:ext cx="220370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DB3A4"/>
                </a:solidFill>
                <a:latin typeface="Calibri"/>
              </a:rPr>
              <a:t>A hand-mapped 2D layout of the resort — room blocks, dining, activities, facilities — with an optional 3D view.</a:t>
            </a:r>
            <a:endParaRPr sz="125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2514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71576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Georgia"/>
              </a:rPr>
              <a:t>03</a:t>
            </a:r>
            <a:endParaRPr sz="2200" b="1" i="0">
              <a:solidFill>
                <a:srgbClr val="F2A93B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0528" y="32918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EDE7D6"/>
                </a:solidFill>
                <a:latin typeface="Calibri"/>
              </a:rPr>
              <a:t>Wayfinding</a:t>
            </a:r>
            <a:endParaRPr sz="165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0528" y="3794760"/>
            <a:ext cx="2203704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DB3A4"/>
                </a:solidFill>
                <a:latin typeface="Calibri"/>
              </a:rPr>
              <a:t>Set where you are (landmark, tap the map, or GPS) and where you want to go — get the walking route, live.</a:t>
            </a:r>
            <a:endParaRPr sz="125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0" y="25146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2715768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2A93B"/>
                </a:solidFill>
                <a:latin typeface="Georgia"/>
              </a:rPr>
              <a:t>04</a:t>
            </a:r>
            <a:endParaRPr sz="2200" b="1" i="0">
              <a:solidFill>
                <a:srgbClr val="F2A93B"/>
              </a:solidFill>
              <a:latin typeface="Georgi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45168" y="32918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EDE7D6"/>
                </a:solidFill>
                <a:latin typeface="Calibri"/>
              </a:rPr>
              <a:t>Nearby Places</a:t>
            </a:r>
            <a:endParaRPr sz="165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45168" y="3794760"/>
            <a:ext cx="2203704" cy="1293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DB3A4"/>
                </a:solidFill>
                <a:latin typeface="Calibri"/>
              </a:rPr>
              <a:t>Explore real attractions within ~100 km, one tap from opening driving directions in Google Maps.</a:t>
            </a:r>
            <a:endParaRPr sz="125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8577"/>
                </a:solidFill>
                <a:latin typeface="Consolas"/>
              </a:rPr>
              <a:t>3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2E4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onsolas"/>
              </a:rPr>
              <a:t>FEATURE 01 · RESORT FINDER</a:t>
            </a:r>
            <a:endParaRPr sz="13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DE7D6"/>
                </a:solidFill>
                <a:latin typeface="Georgia"/>
              </a:rPr>
              <a:t>Find your resort in two taps</a:t>
            </a:r>
            <a:endParaRPr sz="34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84048"/>
            <a:ext cx="457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2100"/>
            <a:ext cx="4297680" cy="392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  <a:sym typeface="+mn-ea"/>
              </a:rPr>
              <a:t>—  Signed-in experience.  </a:t>
            </a:r>
            <a:r>
              <a:rPr sz="1400">
                <a:solidFill>
                  <a:srgbClr val="EDE7D6"/>
                </a:solidFill>
                <a:latin typeface="Calibri"/>
                <a:sym typeface="+mn-ea"/>
              </a:rPr>
              <a:t>A simple sign-in gate keeps the dashboard private to resort guests.</a:t>
            </a:r>
            <a:endParaRPr sz="1400">
              <a:solidFill>
                <a:srgbClr val="EDE7D6"/>
              </a:solidFill>
              <a:latin typeface="Calibri"/>
              <a:sym typeface="+mn-ea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</a:rPr>
              <a:t>— Explore resorts across India. </a:t>
            </a:r>
            <a:r>
              <a:rPr sz="1400">
                <a:solidFill>
                  <a:srgbClr val="EDE7D6"/>
                </a:solidFill>
                <a:latin typeface="Calibri"/>
              </a:rPr>
              <a:t>Browse Club Mahindra resorts across India with a dedicated page for each property.</a:t>
            </a:r>
            <a:endParaRPr sz="14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</a:rPr>
              <a:t>—  Custom-built dropdown.  </a:t>
            </a:r>
            <a:r>
              <a:rPr sz="1400">
                <a:solidFill>
                  <a:srgbClr val="EDE7D6"/>
                </a:solidFill>
                <a:latin typeface="Calibri"/>
              </a:rPr>
              <a:t>Guaranteed to fit any laptop or phone screen — never gets clipped, unlike a native browser dropdown.</a:t>
            </a:r>
            <a:endParaRPr sz="14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</a:rPr>
              <a:t>— One tap to navigate.  </a:t>
            </a:r>
            <a:r>
              <a:rPr sz="1400">
                <a:solidFill>
                  <a:srgbClr val="EDE7D6"/>
                </a:solidFill>
                <a:latin typeface="Calibri"/>
              </a:rPr>
              <a:t>Choose a resort and open its interactive map with a single tap.</a:t>
            </a:r>
            <a:endParaRPr sz="14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endParaRPr sz="140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73980" y="1562100"/>
            <a:ext cx="6385560" cy="451104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index_dropdown.png.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600200"/>
            <a:ext cx="6309360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10819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E8577"/>
                </a:solidFill>
                <a:latin typeface="Consolas"/>
              </a:rPr>
              <a:t>Dashboard — resort selection</a:t>
            </a:r>
            <a:endParaRPr sz="1100" b="0" i="0">
              <a:solidFill>
                <a:srgbClr val="6E8577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8577"/>
                </a:solidFill>
                <a:latin typeface="Consolas"/>
              </a:rPr>
              <a:t>Club Mahindra Resorts · Guest Wayfinding Dashboard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8577"/>
                </a:solidFill>
                <a:latin typeface="Consolas"/>
              </a:rPr>
              <a:t>4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2E4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985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onsolas"/>
              </a:rPr>
              <a:t>FEATURE 02 · INTERACTIVE MAP</a:t>
            </a:r>
            <a:endParaRPr sz="13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DE7D6"/>
                </a:solidFill>
                <a:latin typeface="Georgia"/>
              </a:rPr>
              <a:t>A map that actually matches the resort</a:t>
            </a:r>
            <a:endParaRPr sz="34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84048"/>
            <a:ext cx="457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297680" cy="352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</a:rPr>
              <a:t>—  Hand-mapped, not generic.  </a:t>
            </a:r>
            <a:r>
              <a:rPr sz="1400">
                <a:solidFill>
                  <a:srgbClr val="EDE7D6"/>
                </a:solidFill>
                <a:latin typeface="Calibri"/>
              </a:rPr>
              <a:t>Each layout is built from the resort's real footprint — room blocks, dining, activities, and facilities are placed accurately.</a:t>
            </a:r>
            <a:endParaRPr sz="14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</a:rPr>
              <a:t>—  2D and 3D views.  </a:t>
            </a:r>
            <a:r>
              <a:rPr sz="1400">
                <a:solidFill>
                  <a:srgbClr val="EDE7D6"/>
                </a:solidFill>
                <a:latin typeface="Calibri"/>
              </a:rPr>
              <a:t>Guests can switch between a clean 2D top-down view and an explorable 3D view of the same resort.</a:t>
            </a:r>
            <a:endParaRPr sz="14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</a:rPr>
              <a:t>—  Zoom, pan, tap.  </a:t>
            </a:r>
            <a:r>
              <a:rPr sz="1400">
                <a:solidFill>
                  <a:srgbClr val="EDE7D6"/>
                </a:solidFill>
                <a:latin typeface="Calibri"/>
              </a:rPr>
              <a:t>Tap any place on the map to see it, set it as your starting point, or route to it instantly.</a:t>
            </a:r>
            <a:endParaRPr sz="14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F2A93B"/>
                </a:solidFill>
                <a:latin typeface="Calibri"/>
              </a:rPr>
              <a:t>—  Built to scale.  </a:t>
            </a:r>
            <a:r>
              <a:rPr sz="1400">
                <a:solidFill>
                  <a:srgbClr val="EDE7D6"/>
                </a:solidFill>
                <a:latin typeface="Calibri"/>
              </a:rPr>
              <a:t>Easily onboard new resorts using their layout files.</a:t>
            </a:r>
            <a:r>
              <a:rPr sz="1400">
                <a:solidFill>
                  <a:srgbClr val="EDE7D6"/>
                </a:solidFill>
                <a:latin typeface="Calibri"/>
              </a:rPr>
              <a:t>.</a:t>
            </a:r>
            <a:endParaRPr sz="140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73980" y="1562100"/>
            <a:ext cx="6385560" cy="451104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map.png.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600200"/>
            <a:ext cx="6309360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80" y="610819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E8577"/>
                </a:solidFill>
                <a:latin typeface="Consolas"/>
              </a:rPr>
              <a:t>Club Mahindra Tungi — interactive resort map</a:t>
            </a:r>
            <a:endParaRPr sz="1100" b="0" i="0">
              <a:solidFill>
                <a:srgbClr val="6E8577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8577"/>
                </a:solidFill>
                <a:latin typeface="Consolas"/>
              </a:rPr>
              <a:t>5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2E4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onsolas"/>
              </a:rPr>
              <a:t>FEATURE 03 · WAYFINDING</a:t>
            </a:r>
            <a:endParaRPr sz="13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DE7D6"/>
                </a:solidFill>
                <a:latin typeface="Georgia"/>
              </a:rPr>
              <a:t>From "where am I" to "how do I get there"</a:t>
            </a:r>
            <a:endParaRPr sz="34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84048"/>
            <a:ext cx="457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66160" cy="3840480"/>
          </a:xfrm>
          <a:prstGeom prst="roundRect">
            <a:avLst>
              <a:gd name="adj" fmla="val 7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241703"/>
                </a:solidFill>
              </a:rPr>
              <a:t>1</a:t>
            </a:r>
            <a:endParaRPr sz="2000" b="1">
              <a:solidFill>
                <a:srgbClr val="24170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DE7D6"/>
                </a:solidFill>
                <a:latin typeface="Calibri"/>
              </a:rPr>
              <a:t>Where are you now?</a:t>
            </a:r>
            <a:endParaRPr sz="170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DB3A4"/>
                </a:solidFill>
                <a:latin typeface="Calibri"/>
              </a:rPr>
              <a:t>Pick a nearby landmark from a list, tap your position directly on the map, or use live GPS.</a:t>
            </a:r>
            <a:endParaRPr sz="130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4224528" y="3675888"/>
            <a:ext cx="274320" cy="329184"/>
          </a:xfrm>
          <a:prstGeom prst="chevron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920240"/>
            <a:ext cx="3566160" cy="3840480"/>
          </a:xfrm>
          <a:prstGeom prst="roundRect">
            <a:avLst>
              <a:gd name="adj" fmla="val 7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21488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241703"/>
                </a:solidFill>
              </a:rPr>
              <a:t>2</a:t>
            </a:r>
            <a:endParaRPr sz="2000" b="1">
              <a:solidFill>
                <a:srgbClr val="24170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DE7D6"/>
                </a:solidFill>
                <a:latin typeface="Calibri"/>
              </a:rPr>
              <a:t>Where do you want to go?</a:t>
            </a:r>
            <a:endParaRPr sz="170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54880" y="361188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DB3A4"/>
                </a:solidFill>
                <a:latin typeface="Calibri"/>
              </a:rPr>
              <a:t>Choose any destination on the resort — room block, restaurant, pool, spa, activity area.</a:t>
            </a:r>
            <a:endParaRPr sz="130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8110728" y="3675888"/>
            <a:ext cx="274320" cy="329184"/>
          </a:xfrm>
          <a:prstGeom prst="chevron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920240"/>
            <a:ext cx="3566160" cy="3840480"/>
          </a:xfrm>
          <a:prstGeom prst="roundRect">
            <a:avLst>
              <a:gd name="adj" fmla="val 7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1080" y="21488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241703"/>
                </a:solidFill>
              </a:rPr>
              <a:t>3</a:t>
            </a:r>
            <a:endParaRPr sz="2000" b="1">
              <a:solidFill>
                <a:srgbClr val="24170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41080" y="283464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DE7D6"/>
                </a:solidFill>
                <a:latin typeface="Calibri"/>
              </a:rPr>
              <a:t>Follow the route.</a:t>
            </a:r>
            <a:endParaRPr sz="170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41080" y="361188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DB3A4"/>
                </a:solidFill>
                <a:latin typeface="Calibri"/>
              </a:rPr>
              <a:t>The app calculates the walking path (with an alternate route when available) and gives clear step-by-step directions.</a:t>
            </a:r>
            <a:endParaRPr sz="130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8577"/>
                </a:solidFill>
                <a:latin typeface="Consolas"/>
              </a:rPr>
              <a:t>6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2E4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onsolas"/>
              </a:rPr>
              <a:t>FEATURE 04 · NEARBY PLACES TO VISIT</a:t>
            </a:r>
            <a:endParaRPr sz="13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DE7D6"/>
                </a:solidFill>
                <a:latin typeface="Georgia"/>
              </a:rPr>
              <a:t>The resort is not the whole trip</a:t>
            </a:r>
            <a:endParaRPr sz="34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84048"/>
            <a:ext cx="457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669280" cy="3707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F2A93B"/>
                </a:solidFill>
                <a:latin typeface="Calibri"/>
              </a:rPr>
              <a:t>— Explore nearby attractions.  </a:t>
            </a:r>
            <a:r>
              <a:rPr sz="1450">
                <a:solidFill>
                  <a:srgbClr val="EDE7D6"/>
                </a:solidFill>
                <a:latin typeface="Calibri"/>
              </a:rPr>
              <a:t>Discover popular attractions within 100 km of each resort, including waterfalls, forts, viewpoints, and local landmarks.</a:t>
            </a:r>
            <a:endParaRPr sz="145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F2A93B"/>
                </a:solidFill>
                <a:latin typeface="Calibri"/>
              </a:rPr>
              <a:t>—  One tap to directions.  </a:t>
            </a:r>
            <a:r>
              <a:rPr sz="1450">
                <a:solidFill>
                  <a:srgbClr val="EDE7D6"/>
                </a:solidFill>
                <a:latin typeface="Calibri"/>
              </a:rPr>
              <a:t>Every place opens Google Maps with driving directions already filled in from the resort.</a:t>
            </a:r>
            <a:endParaRPr sz="145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F2A93B"/>
                </a:solidFill>
                <a:latin typeface="Calibri"/>
              </a:rPr>
              <a:t>— Always something to explore.  </a:t>
            </a:r>
            <a:r>
              <a:rPr sz="1450">
                <a:solidFill>
                  <a:srgbClr val="EDE7D6"/>
                </a:solidFill>
                <a:latin typeface="Calibri"/>
              </a:rPr>
              <a:t>If no attractions are listed, guests can instantly explore nearby places using Google Maps</a:t>
            </a:r>
            <a:endParaRPr sz="145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 b="1">
                <a:solidFill>
                  <a:srgbClr val="F2A93B"/>
                </a:solidFill>
                <a:latin typeface="Calibri"/>
              </a:rPr>
              <a:t>—  Encourages longer stays.  </a:t>
            </a:r>
            <a:r>
              <a:rPr sz="1450">
                <a:solidFill>
                  <a:srgbClr val="EDE7D6"/>
                </a:solidFill>
                <a:latin typeface="Calibri"/>
              </a:rPr>
              <a:t>Helps guests plan day trips without leaving the dashboard or needing prior research.</a:t>
            </a:r>
            <a:endParaRPr sz="145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4846320" cy="4023360"/>
          </a:xfrm>
          <a:prstGeom prst="roundRect">
            <a:avLst>
              <a:gd name="adj" fmla="val 6000"/>
            </a:avLst>
          </a:prstGeom>
          <a:solidFill>
            <a:srgbClr val="1B2A20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0574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E8577"/>
                </a:solidFill>
                <a:latin typeface="Consolas"/>
              </a:rPr>
              <a:t>NEARBY PLACES TO VISIT</a:t>
            </a:r>
            <a:endParaRPr sz="1100" b="1" i="0">
              <a:solidFill>
                <a:srgbClr val="6E8577"/>
              </a:solidFill>
              <a:latin typeface="Consola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49440" y="2514600"/>
            <a:ext cx="4297680" cy="621792"/>
          </a:xfrm>
          <a:prstGeom prst="roundRect">
            <a:avLst>
              <a:gd name="adj" fmla="val 20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6334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DE7D6"/>
                </a:solidFill>
                <a:latin typeface="Calibri"/>
              </a:rPr>
              <a:t>Pawna Lake</a:t>
            </a:r>
            <a:endParaRPr sz="140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0" y="263347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DB3A4"/>
                </a:solidFill>
                <a:latin typeface="Consolas"/>
              </a:rPr>
              <a:t>~5 km</a:t>
            </a:r>
            <a:endParaRPr sz="1250" b="0" i="0">
              <a:solidFill>
                <a:srgbClr val="9DB3A4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49440" y="3291840"/>
            <a:ext cx="4297680" cy="621792"/>
          </a:xfrm>
          <a:prstGeom prst="roundRect">
            <a:avLst>
              <a:gd name="adj" fmla="val 20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41071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DE7D6"/>
                </a:solidFill>
                <a:latin typeface="Calibri"/>
              </a:rPr>
              <a:t>Tikona Fort</a:t>
            </a:r>
            <a:endParaRPr sz="140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0" y="341071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DB3A4"/>
                </a:solidFill>
                <a:latin typeface="Consolas"/>
              </a:rPr>
              <a:t>~9 km</a:t>
            </a:r>
            <a:endParaRPr sz="1250" b="0" i="0">
              <a:solidFill>
                <a:srgbClr val="9DB3A4"/>
              </a:solidFill>
              <a:latin typeface="Consola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49440" y="4069080"/>
            <a:ext cx="4297680" cy="621792"/>
          </a:xfrm>
          <a:prstGeom prst="roundRect">
            <a:avLst>
              <a:gd name="adj" fmla="val 20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41879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DE7D6"/>
                </a:solidFill>
                <a:latin typeface="Calibri"/>
              </a:rPr>
              <a:t>Lohagad Fort</a:t>
            </a:r>
            <a:endParaRPr sz="140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0" y="418795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DB3A4"/>
                </a:solidFill>
                <a:latin typeface="Consolas"/>
              </a:rPr>
              <a:t>~16 km</a:t>
            </a:r>
            <a:endParaRPr sz="1250" b="0" i="0">
              <a:solidFill>
                <a:srgbClr val="9DB3A4"/>
              </a:solidFill>
              <a:latin typeface="Consola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49440" y="4846320"/>
            <a:ext cx="4297680" cy="621792"/>
          </a:xfrm>
          <a:prstGeom prst="roundRect">
            <a:avLst>
              <a:gd name="adj" fmla="val 20000"/>
            </a:avLst>
          </a:prstGeom>
          <a:solidFill>
            <a:srgbClr val="141F18"/>
          </a:solidFill>
          <a:ln w="12700">
            <a:solidFill>
              <a:srgbClr val="2E4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49651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DE7D6"/>
                </a:solidFill>
                <a:latin typeface="Calibri"/>
              </a:rPr>
              <a:t>Bhushi Dam, Lonavala</a:t>
            </a:r>
            <a:endParaRPr sz="1400" b="1" i="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0" y="496519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DB3A4"/>
                </a:solidFill>
                <a:latin typeface="Consolas"/>
              </a:rPr>
              <a:t>~18 km</a:t>
            </a:r>
            <a:endParaRPr sz="1250" b="0" i="0">
              <a:solidFill>
                <a:srgbClr val="9DB3A4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8577"/>
                </a:solidFill>
                <a:latin typeface="Consolas"/>
              </a:rPr>
              <a:t>7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2E4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onsolas"/>
              </a:rPr>
              <a:t>QUALITY &amp; RELIABILITY</a:t>
            </a:r>
            <a:endParaRPr sz="1300" b="1" i="0">
              <a:solidFill>
                <a:srgbClr val="F2A93B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9540" y="982345"/>
            <a:ext cx="6852920" cy="614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" sz="3400" b="1" i="0">
                <a:solidFill>
                  <a:srgbClr val="EDE7D6"/>
                </a:solidFill>
                <a:latin typeface="Georgia"/>
              </a:rPr>
              <a:t>  </a:t>
            </a:r>
            <a:r>
              <a:rPr sz="3400" b="1" i="0">
                <a:solidFill>
                  <a:srgbClr val="EDE7D6"/>
                </a:solidFill>
                <a:latin typeface="Georgia"/>
              </a:rPr>
              <a:t>Compatible with All Devices.</a:t>
            </a:r>
            <a:endParaRPr sz="34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84048"/>
            <a:ext cx="4572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698480" cy="256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Optimized for every screen.  </a:t>
            </a:r>
            <a:r>
              <a:rPr sz="1500">
                <a:solidFill>
                  <a:srgbClr val="EDE7D6"/>
                </a:solidFill>
                <a:latin typeface="Calibri"/>
              </a:rPr>
              <a:t>Replaced the default dropdown with a responsive custom menu that fits perfectly on all devices</a:t>
            </a:r>
            <a:endParaRPr sz="15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Fully Tested.  </a:t>
            </a:r>
            <a:r>
              <a:rPr sz="1500">
                <a:solidFill>
                  <a:srgbClr val="EDE7D6"/>
                </a:solidFill>
                <a:latin typeface="Calibri"/>
              </a:rPr>
              <a:t>Every interaction was tested across different devices and screen sizes to ensure a smooth user experience.</a:t>
            </a:r>
            <a:endParaRPr sz="15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 Responsive across the whole app.  </a:t>
            </a:r>
            <a:r>
              <a:rPr sz="1500">
                <a:solidFill>
                  <a:srgbClr val="EDE7D6"/>
                </a:solidFill>
                <a:latin typeface="Calibri"/>
              </a:rPr>
              <a:t>Logo sizing, map sidebar, and layout all adapt from a small phone up to a widescreen laptop.</a:t>
            </a:r>
            <a:endParaRPr sz="1500">
              <a:solidFill>
                <a:srgbClr val="EDE7D6"/>
              </a:solidFill>
              <a:latin typeface="Calibri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F2A93B"/>
                </a:solidFill>
                <a:latin typeface="Calibri"/>
              </a:rPr>
              <a:t>— No app installation required.  </a:t>
            </a:r>
            <a:r>
              <a:rPr sz="1500">
                <a:solidFill>
                  <a:srgbClr val="EDE7D6"/>
                </a:solidFill>
                <a:latin typeface="Calibri"/>
              </a:rPr>
              <a:t>Simply sign in and access the dashboard through a web link.</a:t>
            </a:r>
            <a:endParaRPr sz="1500">
              <a:solidFill>
                <a:srgbClr val="EDE7D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8577"/>
                </a:solidFill>
                <a:latin typeface="Consolas"/>
              </a:rPr>
              <a:t>8</a:t>
            </a:r>
            <a:endParaRPr sz="1000" b="0" i="0">
              <a:solidFill>
                <a:srgbClr val="6E8577"/>
              </a:solidFill>
              <a:latin typeface="Consola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2E4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14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94075" y="2829560"/>
            <a:ext cx="5404485" cy="119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EDE7D6"/>
                </a:solidFill>
                <a:latin typeface="Georgia"/>
              </a:rPr>
              <a:t>Thank you</a:t>
            </a:r>
            <a:endParaRPr sz="7200" b="1" i="0">
              <a:solidFill>
                <a:srgbClr val="EDE7D6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90440" y="4761230"/>
            <a:ext cx="2609215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DB3A4"/>
                </a:solidFill>
                <a:latin typeface="Calibri"/>
              </a:rPr>
              <a:t>Questions &amp; discussion</a:t>
            </a:r>
            <a:endParaRPr sz="1600" b="0" i="0">
              <a:solidFill>
                <a:srgbClr val="9DB3A4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5565" y="167005"/>
            <a:ext cx="3566160" cy="1240253"/>
          </a:xfrm>
          <a:prstGeom prst="roundRect">
            <a:avLst>
              <a:gd name="adj" fmla="val 15000"/>
            </a:avLst>
          </a:prstGeom>
          <a:solidFill>
            <a:srgbClr val="F7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pic>
        <p:nvPicPr>
          <p:cNvPr id="11" name="Picture 10" descr="jsn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62610" y="-181610"/>
            <a:ext cx="4570095" cy="1937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4540</Words>
  <Application>WPS Presentation</Application>
  <PresentationFormat>On-screen Show (4:3)</PresentationFormat>
  <Paragraphs>157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Arial</vt:lpstr>
      <vt:lpstr>Consolas</vt:lpstr>
      <vt:lpstr>Georgia</vt:lpstr>
      <vt:lpstr>Calibri</vt:lpstr>
      <vt:lpstr>DejaVu Sans</vt:lpstr>
      <vt:lpstr>URW Bookman</vt:lpstr>
      <vt:lpstr>微软雅黑</vt:lpstr>
      <vt:lpstr>Droid Sans Fallback</vt:lpstr>
      <vt:lpstr>Arial Unicode MS</vt:lpstr>
      <vt:lpstr>Calibri</vt:lpstr>
      <vt:lpstr>Noto Sans Symbols2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kartik</cp:lastModifiedBy>
  <cp:revision>15</cp:revision>
  <dcterms:created xsi:type="dcterms:W3CDTF">2026-07-23T11:19:18Z</dcterms:created>
  <dcterms:modified xsi:type="dcterms:W3CDTF">2026-07-23T11:19:18Z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